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Roboto" panose="02000000000000000000" pitchFamily="2" charset="0"/>
      <p:regular r:id="rId14"/>
      <p:bold r:id="rId15"/>
      <p:italic r:id="rId16"/>
    </p:embeddedFont>
    <p:embeddedFont>
      <p:font typeface="Roboto Slab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34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07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9298" y="2877264"/>
            <a:ext cx="68118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Hospital Quality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214217" y="3676769"/>
            <a:ext cx="62019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CMS Hospital Compare — 5,400+ U.S. Hospitals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12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questions. A bronze-silver-gold pipeline. Surprising answers.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893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with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14 · SQL · Tableau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|  Portfolio Project by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Vladimir Mickic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9609"/>
            <a:ext cx="2126813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747593"/>
            <a:ext cx="185463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9657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Hypotheses Tested. All Three Were Wrong.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95429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initial assumption was overturned by the data — revealing that hospital quality problems are more fragmented, and more nuanced, than conventional wisdom suggests.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935254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0604" y="4162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 = −0.020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465248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Imaging overuse and ED wait times are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statistically independent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R² = 0.0004 across 3,589 hospitals. They are entirely separate problems.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935254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43776" y="4162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221 min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3776" y="465248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Non-Profits have the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star ratings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(3.18 avg) but the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slowest EDs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(221 min). Clinical quality ≠ operational speed.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935254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66948" y="4162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83% → 5 "Worse"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66948" y="465248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hospital scored 83% on process compliance and still earned 5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"Worse"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complication ratings. Checklists ≠ safety.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586061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930152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869549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Imaging overuse and ED throughput are separate problems. They need separate interventions and separate budgets.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8180"/>
            <a:ext cx="1200269" cy="333018"/>
          </a:xfrm>
          <a:prstGeom prst="roundRect">
            <a:avLst>
              <a:gd name="adj" fmla="val 6539"/>
            </a:avLst>
          </a:prstGeom>
          <a:noFill/>
          <a:ln w="762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0233" y="740212"/>
            <a:ext cx="96738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069181"/>
            <a:ext cx="55110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This Analysis Exists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1984415"/>
            <a:ext cx="6300073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 publishes quality data on 5,400+ hospitals — but it arrives in </a:t>
            </a: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separate files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inconsistent formats, suppressed scores, and mixed data types in the same columns. The raw data is rich but unusable without a structured pipeline.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63000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analysis builds that pipeline and uses it to answer three high-stakes questions about how hospital quality actually works.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4157" y="2017038"/>
            <a:ext cx="6300073" cy="1606510"/>
          </a:xfrm>
          <a:prstGeom prst="roundRect">
            <a:avLst>
              <a:gd name="adj" fmla="val 1694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67017" y="2039898"/>
            <a:ext cx="6254353" cy="544354"/>
          </a:xfrm>
          <a:prstGeom prst="rect">
            <a:avLst/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58105" y="214193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48468" y="2729389"/>
            <a:ext cx="228195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Imaging vs. ED Waits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748468" y="3158014"/>
            <a:ext cx="589145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hospitals that over-order imaging also have longer ED wait times?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4157" y="3768685"/>
            <a:ext cx="6300073" cy="1867733"/>
          </a:xfrm>
          <a:prstGeom prst="roundRect">
            <a:avLst>
              <a:gd name="adj" fmla="val 1457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67017" y="3791545"/>
            <a:ext cx="6254353" cy="544354"/>
          </a:xfrm>
          <a:prstGeom prst="rect">
            <a:avLst/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58105" y="38935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748468" y="448103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Ownership Type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748468" y="4909661"/>
            <a:ext cx="589145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ownership structure predict quality patterns? Do incentive structures matter?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4157" y="5781556"/>
            <a:ext cx="6300073" cy="1606510"/>
          </a:xfrm>
          <a:prstGeom prst="roundRect">
            <a:avLst>
              <a:gd name="adj" fmla="val 1694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67017" y="5804416"/>
            <a:ext cx="6254353" cy="544354"/>
          </a:xfrm>
          <a:prstGeom prst="rect">
            <a:avLst/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58105" y="590645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48468" y="6493907"/>
            <a:ext cx="235243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Compliance vs. Safety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748468" y="6922532"/>
            <a:ext cx="589145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a hospital follow every protocol and still be unsafe for patients?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4721"/>
            <a:ext cx="1272897" cy="317778"/>
          </a:xfrm>
          <a:prstGeom prst="roundRect">
            <a:avLst>
              <a:gd name="adj" fmla="val 6852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2613" y="679133"/>
            <a:ext cx="105525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000482"/>
            <a:ext cx="691169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Bronze → Silver → Gold Pipeline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1785104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three-tier architecture transforms 430K+ raw rows from 5 CMS CSV files into clean, analytical views that directly answer each business question.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09562"/>
            <a:ext cx="4347567" cy="7258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5241" y="3080504"/>
            <a:ext cx="279963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🥉</a:t>
            </a: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Bronze — Raw Landing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5241" y="3458647"/>
            <a:ext cx="3984665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columns stored as TEXT. No casting, no transforms. 5 tables, 430K+ rows. Per-table exception handling with row-count logging.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209562"/>
            <a:ext cx="4347567" cy="7258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22808" y="3080504"/>
            <a:ext cx="303811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🥈</a:t>
            </a: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Silver — Cleaned &amp; Typed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322808" y="3458647"/>
            <a:ext cx="3984665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casting, NULL standardization, tiered score usability flags. 12 ownership values collapsed to 4 canonical groups. Multi-code footnote parsing via array overlap.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209562"/>
            <a:ext cx="4347567" cy="7258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0375" y="3080504"/>
            <a:ext cx="226826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🥇</a:t>
            </a: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Gold — Analytical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70375" y="3458647"/>
            <a:ext cx="3984665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focused views answering the 3 questions. 1 hospital dimension view with Census regions. No monolithic fact table — each view joins only what it needs.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93790" y="4848225"/>
            <a:ext cx="13042821" cy="2756535"/>
          </a:xfrm>
          <a:prstGeom prst="roundRect">
            <a:avLst>
              <a:gd name="adj" fmla="val 98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982980" y="4950500"/>
            <a:ext cx="484429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97798" y="4950500"/>
            <a:ext cx="158353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51852" y="4950500"/>
            <a:ext cx="549568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82980" y="5408652"/>
            <a:ext cx="484429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cms_hospital_general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97798" y="5408652"/>
            <a:ext cx="158353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5,426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51852" y="5408652"/>
            <a:ext cx="549568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Ratings, ownership, location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82980" y="5866805"/>
            <a:ext cx="484429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cms_timely_care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197798" y="5866805"/>
            <a:ext cx="158353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138,129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151852" y="5866805"/>
            <a:ext cx="549568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 waits, vaccination, timing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982980" y="6324957"/>
            <a:ext cx="484429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cms_complications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197798" y="6324957"/>
            <a:ext cx="158353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95,780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151852" y="6324957"/>
            <a:ext cx="549568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Mortality &amp; complications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982980" y="6783110"/>
            <a:ext cx="484429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cms_outpatient_imaging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197798" y="6783110"/>
            <a:ext cx="158353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18,500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151852" y="6783110"/>
            <a:ext cx="549568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CT/MRI ordering efficiency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982980" y="7241262"/>
            <a:ext cx="484429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cms_infections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197798" y="7241262"/>
            <a:ext cx="158353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172,404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8151852" y="7241262"/>
            <a:ext cx="549568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HAI rates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74263"/>
            <a:ext cx="1007269" cy="370642"/>
          </a:xfrm>
          <a:prstGeom prst="roundRect">
            <a:avLst>
              <a:gd name="adj" fmla="val 6609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6186" y="835462"/>
            <a:ext cx="76247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18367"/>
            <a:ext cx="1249275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Link Between Imaging Overuse &amp; ED Wait Times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14068" y="2233851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−0.020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2721173" y="314729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Pearson 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3576280"/>
            <a:ext cx="64066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Near-zero correlation across 3,589 hospitals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50254" y="2233851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0.0004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9357360" y="314729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R² Value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29976" y="3576280"/>
            <a:ext cx="64066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Imaging explains 0.04% of ED wait time variance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3790" y="41620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Was Tested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3790" y="4756428"/>
            <a:ext cx="13042821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Imaging composite: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of OP-10, OP-13, OP-39 (lower % = better). OP-8 excluded — its mean (36.9%) is 5× higher than peers and would dominate the composite.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 wait: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of OP_18a–d in minutes, capped at 1,440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 = 3,589 hospitals with usable scores in both domains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790" y="6332815"/>
            <a:ext cx="13042821" cy="1122521"/>
          </a:xfrm>
          <a:prstGeom prst="roundRect">
            <a:avLst>
              <a:gd name="adj" fmla="val 2728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6630233"/>
            <a:ext cx="255151" cy="2040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57087" y="6567488"/>
            <a:ext cx="1217545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Insight: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Imaging overuse is a clinical ordering decision. ED throughput is an operational flow problem. Different root causes → different interventions required.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15459"/>
            <a:ext cx="839748" cy="292418"/>
          </a:xfrm>
          <a:prstGeom prst="roundRect">
            <a:avLst>
              <a:gd name="adj" fmla="val 6981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5826" y="866418"/>
            <a:ext cx="6356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158835"/>
            <a:ext cx="475916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Non-Profit Paradox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93790" y="1881783"/>
            <a:ext cx="130428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Non-Profits lead on clinical star ratings — but run the slowest emergency departments of any ownership group. The correlation between imaging and ED waits stays near zero in every group.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2629019"/>
            <a:ext cx="241839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ED Wait Time (min)</a:t>
            </a: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38237"/>
            <a:ext cx="4735354" cy="27832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03323" y="3500517"/>
            <a:ext cx="18871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221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571298" y="4287917"/>
            <a:ext cx="18871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201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610683" y="5075317"/>
            <a:ext cx="18871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204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530346" y="2629019"/>
            <a:ext cx="24811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Star Rating (out of 5)</a:t>
            </a:r>
            <a:endParaRPr lang="en-US" sz="16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346" y="3038237"/>
            <a:ext cx="4735354" cy="27832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70542" y="3500517"/>
            <a:ext cx="21193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3.18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11147520" y="4287917"/>
            <a:ext cx="21193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2.81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0944690" y="5075317"/>
            <a:ext cx="21193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2.64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671274" y="6064091"/>
            <a:ext cx="6558915" cy="1349931"/>
          </a:xfrm>
          <a:prstGeom prst="roundRect">
            <a:avLst>
              <a:gd name="adj" fmla="val 1890"/>
            </a:avLst>
          </a:prstGeom>
          <a:solidFill>
            <a:srgbClr val="1E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41296" y="619160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Core Paradox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841296" y="6584871"/>
            <a:ext cx="621887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Non-Profits optimize for clinical quality metrics — mortality, readmissions, patient experience. This may come at the cost of operational throughput. Star ratings and ED speed measure fundamentally different things.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30346" y="619160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 Caveat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7530346" y="6584871"/>
            <a:ext cx="631388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Non-Profit share rises from 54% → 64% in the joined sample due to higher reporting rates — a form of survivorship bias. Tribal hospitals (collapsed to 1 entity) were excluded from group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86051"/>
            <a:ext cx="951428" cy="343614"/>
          </a:xfrm>
          <a:prstGeom prst="roundRect">
            <a:avLst>
              <a:gd name="adj" fmla="val 673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9399" y="843796"/>
            <a:ext cx="72020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195149"/>
            <a:ext cx="778299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Compliance Does Not Equal Safety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93790" y="2043351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Among the 30 worst-complication hospitals (3+ "Worse" ratings), compliance scores range from 42%–84% with no clear pattern.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3790" y="2512933"/>
            <a:ext cx="13042821" cy="2025968"/>
          </a:xfrm>
          <a:prstGeom prst="roundRect">
            <a:avLst>
              <a:gd name="adj" fmla="val 142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4291" y="2626400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Test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11891" y="2626400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value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17336" y="2626400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4291" y="3130987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compliance vs. Complications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11891" y="3130987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≈ 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117336" y="3130987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4291" y="3635573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compliance vs. Mortality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11891" y="3635573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≈ 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117336" y="3635573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4291" y="4140160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compliance vs. Patient Safety (PSI)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11891" y="4140160"/>
            <a:ext cx="221230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17336" y="4140160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Barely detectable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3790" y="4907518"/>
            <a:ext cx="6286262" cy="1596747"/>
          </a:xfrm>
          <a:prstGeom prst="roundRect">
            <a:avLst>
              <a:gd name="adj" fmla="val 181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5185410"/>
            <a:ext cx="240983" cy="19276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20297" y="5119449"/>
            <a:ext cx="546699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 180044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"Worse" complication ratings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compliance: </a:t>
            </a: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83.55%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High compliance, still deeply unsafe.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557968" y="4907518"/>
            <a:ext cx="6286262" cy="1596747"/>
          </a:xfrm>
          <a:prstGeom prst="roundRect">
            <a:avLst>
              <a:gd name="adj" fmla="val 181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731" y="5185410"/>
            <a:ext cx="240983" cy="19276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84475" y="5119449"/>
            <a:ext cx="546699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 050145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"Worse" complication ratings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compliance: </a:t>
            </a: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42.17%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Low compliance AND unsafe, a different failure mode entirely.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93790" y="6872883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measures track narrow boxes — colonoscopy care, staff vaccination. Clinical outcomes depend on staffing, communication, equipment, and patient acuity. </a:t>
            </a: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Checklists don't capture these factors.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2227"/>
            <a:ext cx="2553891" cy="343614"/>
          </a:xfrm>
          <a:prstGeom prst="roundRect">
            <a:avLst>
              <a:gd name="adj" fmla="val 673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9399" y="729972"/>
            <a:ext cx="2322671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081326"/>
            <a:ext cx="130428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Two Interventions. Separate Budgets. Measurable Targets.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93790" y="2531983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 points to two structurally independent problems — each requiring its own roadmap, ownership, and success metrics.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3790" y="3185874"/>
            <a:ext cx="6286262" cy="3261836"/>
          </a:xfrm>
          <a:prstGeom prst="roundRect">
            <a:avLst>
              <a:gd name="adj" fmla="val 88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3378637"/>
            <a:ext cx="578406" cy="57840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619" y="3537704"/>
            <a:ext cx="260271" cy="2602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6552" y="4120872"/>
            <a:ext cx="311050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Imaging Utilization Reform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986552" y="4585930"/>
            <a:ext cx="5900738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OP-10 ordering rates. Implement radiologist-led pre-authorization protocols for contrast CT. Benchmark against the 4–5% rate seen in 5-star hospitals. Expected impact: 30–50% reduction in unnecessary contrast orders within 12 months.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86552" y="5911334"/>
            <a:ext cx="3591044" cy="343614"/>
          </a:xfrm>
          <a:prstGeom prst="roundRect">
            <a:avLst>
              <a:gd name="adj" fmla="val 673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102162" y="5969079"/>
            <a:ext cx="3359825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 ORDERING · LOW COST · HIGH SIGNAL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557968" y="3185874"/>
            <a:ext cx="6286262" cy="3261836"/>
          </a:xfrm>
          <a:prstGeom prst="roundRect">
            <a:avLst>
              <a:gd name="adj" fmla="val 88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731" y="3378637"/>
            <a:ext cx="578406" cy="578406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9798" y="3537704"/>
            <a:ext cx="260271" cy="26027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50731" y="4120872"/>
            <a:ext cx="327195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 Throughput Optimization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7750731" y="4585930"/>
            <a:ext cx="5900738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 wait times are operationally driven — staffing models, triage protocols, and bed management. Treat as a separate workstream from imaging. Expected impact: 15–25 min reduction in median wait time with lean process redesign.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750731" y="5911334"/>
            <a:ext cx="3599497" cy="343614"/>
          </a:xfrm>
          <a:prstGeom prst="roundRect">
            <a:avLst>
              <a:gd name="adj" fmla="val 673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7866340" y="5969079"/>
            <a:ext cx="3368278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· SEPARATE BUDGET · QUICK WIN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93790" y="6816328"/>
            <a:ext cx="13042821" cy="740926"/>
          </a:xfrm>
          <a:prstGeom prst="roundRect">
            <a:avLst>
              <a:gd name="adj" fmla="val 3903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552" y="7094220"/>
            <a:ext cx="240983" cy="19276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20297" y="7028259"/>
            <a:ext cx="1222355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are not the same problem. Conflating them wastes resources. Each intervention has a distinct owner, timeline, and KPI.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6864"/>
            <a:ext cx="1044416" cy="385882"/>
          </a:xfrm>
          <a:prstGeom prst="roundRect">
            <a:avLst>
              <a:gd name="adj" fmla="val 6348"/>
            </a:avLst>
          </a:prstGeom>
          <a:noFill/>
          <a:ln w="762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806" y="695682"/>
            <a:ext cx="78438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DIVE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086207"/>
            <a:ext cx="692955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Ownership Is Not a Monolith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3790" y="2206347"/>
            <a:ext cx="6272451" cy="5189696"/>
          </a:xfrm>
          <a:prstGeom prst="roundRect">
            <a:avLst>
              <a:gd name="adj" fmla="val 59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721" y="2331720"/>
            <a:ext cx="24037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Ownership Subtype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25240" y="2331720"/>
            <a:ext cx="8355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Stars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6587" y="2331720"/>
            <a:ext cx="17779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Notable Pattern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721" y="3195399"/>
            <a:ext cx="24037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 Hospitals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25240" y="3195399"/>
            <a:ext cx="83558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99C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6587" y="3195399"/>
            <a:ext cx="177796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77% are high performers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721" y="4059079"/>
            <a:ext cx="24037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Non-Profit (all subtypes)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25240" y="4059079"/>
            <a:ext cx="83558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~3.2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6587" y="4059079"/>
            <a:ext cx="177796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~40% high performers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721" y="4922758"/>
            <a:ext cx="240375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Physician-Owned (For-Profit)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25240" y="4922758"/>
            <a:ext cx="83558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6587" y="4922758"/>
            <a:ext cx="177796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Outperforms its sector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721" y="5786438"/>
            <a:ext cx="24037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Local/State Government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25240" y="5786438"/>
            <a:ext cx="83558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2.7–2.8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6587" y="5786438"/>
            <a:ext cx="177796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Disproportionate low performers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721" y="6650117"/>
            <a:ext cx="240375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(For-Profit)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25240" y="6650117"/>
            <a:ext cx="83558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6587" y="6650117"/>
            <a:ext cx="177796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~49% low performers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71780" y="21833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1.5-Star Gap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71780" y="2685931"/>
            <a:ext cx="62724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Lumping VA hospitals with local government hospitals under "Government" masks a </a:t>
            </a: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1.5-star quality gap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one of the largest differences in the entire dataset.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71780" y="38004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Reporting ≠ Quality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571780" y="4303038"/>
            <a:ext cx="62724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completeness vs. star ratings: </a:t>
            </a: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= −0.041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(R² = 0.0017). Hospitals that report on more measures do not score better. Transparency and quality are independent dimensions.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70478"/>
            <a:ext cx="1189673" cy="370642"/>
          </a:xfrm>
          <a:prstGeom prst="roundRect">
            <a:avLst>
              <a:gd name="adj" fmla="val 6609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6186" y="1031677"/>
            <a:ext cx="94488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14582"/>
            <a:ext cx="1123985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UPMC Presbyterian Shadyside — Gap to 5 Stars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93790" y="2328029"/>
            <a:ext cx="130428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Benchmarked against Pennsylvania non-profit acute care peers (facility 390164, current 4-star rating). UPMC excels in high-acuity ED pathways — </a:t>
            </a: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133–149 min faster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PA average on OP_18c/d — but two specific gaps prevent a 5-star rating.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3790" y="3155275"/>
            <a:ext cx="13042821" cy="2774633"/>
          </a:xfrm>
          <a:prstGeom prst="roundRect">
            <a:avLst>
              <a:gd name="adj" fmla="val 110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602" y="3280648"/>
            <a:ext cx="414766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69029" y="3280648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UPMC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13965" y="3280648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5-Star Avg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58901" y="3280648"/>
            <a:ext cx="336601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602" y="3834051"/>
            <a:ext cx="414766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PSI_03 — Pressure Ulcers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69029" y="3834051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13965" y="3834051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58901" y="3834051"/>
            <a:ext cx="336601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8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+1.34 — nearly 4× worse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602" y="4387453"/>
            <a:ext cx="414766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OP-10 — CT Contrast Overuse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69029" y="4387453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13965" y="4387453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~4–5%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58901" y="4387453"/>
            <a:ext cx="336601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8595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double PA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602" y="4940856"/>
            <a:ext cx="414766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HAI_1_SIR — Central Line Infections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69029" y="4940856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Above benchmark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13965" y="4940856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Below benchmark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58901" y="4940856"/>
            <a:ext cx="336601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 exists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602" y="5494258"/>
            <a:ext cx="414766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PSI_90 — Safety Composite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69029" y="5494258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Elevated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13965" y="5494258"/>
            <a:ext cx="19291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58901" y="5494258"/>
            <a:ext cx="336601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Driven by PSI_03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3790" y="6136600"/>
            <a:ext cx="13042821" cy="1122521"/>
          </a:xfrm>
          <a:prstGeom prst="roundRect">
            <a:avLst>
              <a:gd name="adj" fmla="val 2728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6434018"/>
            <a:ext cx="255151" cy="20407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57087" y="6371273"/>
            <a:ext cx="1217545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UPMC hospital achieved 5 stars in PA. The 5-star group is dominated by smaller regional systems: </a:t>
            </a: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WellSpan, St. Luke's, AHN Wexford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Two actionable problems — pressure ulcer protocols and CT contrast ordering are specific, measurable, and addressable.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0564"/>
            <a:ext cx="2386965" cy="358854"/>
          </a:xfrm>
          <a:prstGeom prst="roundRect">
            <a:avLst>
              <a:gd name="adj" fmla="val 6447"/>
            </a:avLst>
          </a:prstGeom>
          <a:noFill/>
          <a:ln w="762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7019" y="765929"/>
            <a:ext cx="2140506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QUALITY &amp; 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124903"/>
            <a:ext cx="889575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Bugs Fixed, Limitations Acknowledged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793790" y="1973104"/>
            <a:ext cx="13042821" cy="2530554"/>
          </a:xfrm>
          <a:prstGeom prst="roundRect">
            <a:avLst>
              <a:gd name="adj" fmla="val 114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4291" y="2086570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57718" y="2086570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65945" y="2086570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Applied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4291" y="2591157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Footnote matching used exact strings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57718" y="2591157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Missed multi-code values like '5, 23'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465945" y="2591157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Switched to array overlap (&amp;&amp;)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4291" y="3095744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exclusion priority reversed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57718" y="3095744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Footnoted rows misclassified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65945" y="3095744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Footnotes evaluated before NULL scores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4291" y="3600331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Zero-infection hospitals not flagged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57718" y="3600331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8 rows treated as valid scores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65945" y="3600331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Added to usability blacklist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4291" y="4104918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birthing_friendly conflated unknown/no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57718" y="4104918"/>
            <a:ext cx="351508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Unknown hospitals marked as "No"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65945" y="4104918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 for unknowns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3790" y="4851797"/>
            <a:ext cx="243601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Quality Realities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93790" y="5316855"/>
            <a:ext cx="6286262" cy="159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Rural suppression: MT, SD, WY → 65–80% unusable vs. 15–30% for NJ, CT, RI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58% of timely_care scores = "Not Available"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47% of hospitals have no star rating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11.9% have usable scores across all 6 HAI measures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 flipV="1">
            <a:off x="9689544" y="5153024"/>
            <a:ext cx="278367" cy="151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7557968" y="5316855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57968" y="576595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557968" y="6231017"/>
            <a:ext cx="70724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57968" y="6663690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57968" y="7096363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1464</Words>
  <Application>Microsoft Macintosh PowerPoint</Application>
  <PresentationFormat>Custom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Roboto Slab</vt:lpstr>
      <vt:lpstr>Roboto</vt:lpstr>
      <vt:lpstr>-apple-system, BlinkMacSystemFont, Segoe UI, Roboto, Helvetica Neue, Arial, sans-serif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Vladimir Mickic</cp:lastModifiedBy>
  <cp:revision>2</cp:revision>
  <dcterms:created xsi:type="dcterms:W3CDTF">2026-04-18T01:07:14Z</dcterms:created>
  <dcterms:modified xsi:type="dcterms:W3CDTF">2026-04-18T01:15:09Z</dcterms:modified>
</cp:coreProperties>
</file>